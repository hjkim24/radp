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711" r:id="rId3"/>
    <p:sldId id="715" r:id="rId4"/>
    <p:sldId id="731" r:id="rId5"/>
    <p:sldId id="727" r:id="rId6"/>
    <p:sldId id="728" r:id="rId7"/>
    <p:sldId id="729" r:id="rId8"/>
    <p:sldId id="730" r:id="rId9"/>
  </p:sldIdLst>
  <p:sldSz cx="12192000" cy="6858000"/>
  <p:notesSz cx="6802438" cy="99345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  <p:cmAuthor id="3" name="Angela Caliwag" initials="AC" lastIdx="1" clrIdx="2">
    <p:extLst>
      <p:ext uri="{19B8F6BF-5375-455C-9EA6-DF929625EA0E}">
        <p15:presenceInfo xmlns:p15="http://schemas.microsoft.com/office/powerpoint/2012/main" userId="4a063521a0695f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449"/>
    <a:srgbClr val="852D60"/>
    <a:srgbClr val="935F2F"/>
    <a:srgbClr val="602FAA"/>
    <a:srgbClr val="4257AD"/>
    <a:srgbClr val="FFFFFF"/>
    <a:srgbClr val="2E7EB1"/>
    <a:srgbClr val="282828"/>
    <a:srgbClr val="005490"/>
    <a:srgbClr val="202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 autoAdjust="0"/>
    <p:restoredTop sz="87945" autoAdjust="0"/>
  </p:normalViewPr>
  <p:slideViewPr>
    <p:cSldViewPr>
      <p:cViewPr varScale="1">
        <p:scale>
          <a:sx n="111" d="100"/>
          <a:sy n="111" d="100"/>
        </p:scale>
        <p:origin x="1408" y="200"/>
      </p:cViewPr>
      <p:guideLst>
        <p:guide pos="3840"/>
        <p:guide pos="6816"/>
        <p:guide pos="816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3142" y="2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5/27/26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3142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3142" y="2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5/27/26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57888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244" y="4781018"/>
            <a:ext cx="5441950" cy="33529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3142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40013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820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07029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667E1-E601-4AAF-B95C-B25720D70A60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760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760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60CF-7972-B25A-1710-E6F578F68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8AABC9-F289-5032-625A-1DC093B0C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E0FDB9-7240-1AD1-D819-D3269E31E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E64390-B091-81E9-8327-77EA59AE5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227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AA9D-BE21-0287-5D51-8FC3EA9B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6CDFC-8C18-9C7C-9BF0-235A5C8D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0FC51C-E77D-7D59-08D0-675F3666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CC875C-5571-9616-2E53-798859E21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0769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AA9D-BE21-0287-5D51-8FC3EA9B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6CDFC-8C18-9C7C-9BF0-235A5C8D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0FC51C-E77D-7D59-08D0-675F3666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CC875C-5571-9616-2E53-798859E21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076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AA9D-BE21-0287-5D51-8FC3EA9B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6CDFC-8C18-9C7C-9BF0-235A5C8D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0FC51C-E77D-7D59-08D0-675F3666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CC875C-5571-9616-2E53-798859E21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0769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AA9D-BE21-0287-5D51-8FC3EA9B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6CDFC-8C18-9C7C-9BF0-235A5C8D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0FC51C-E77D-7D59-08D0-675F3666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CC875C-5571-9616-2E53-798859E21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0769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4A62-D5DC-C670-4534-7D59C324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F2D23E-FB69-BADB-11E5-E376A874C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7005B8-C7A1-A80A-EC77-15417A452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64E53-7B37-7943-1D3F-7E0681D98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311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ko-KR" smtClean="0"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93809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CB8-F384-41F5-9A13-5525A14F6115}" type="datetime1">
              <a:rPr lang="en-US" smtClean="0"/>
              <a:t>5/27/26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470E-3E49-4166-8FDE-B4B231F96343}" type="datetime1">
              <a:rPr lang="en-US" smtClean="0"/>
              <a:t>5/27/26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6305C-FBE6-4432-984C-F014356066E0}" type="datetime1">
              <a:rPr lang="en-US" smtClean="0"/>
              <a:t>5/27/26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3CFF-D905-4362-8694-2B08F6E2EA39}" type="datetime1">
              <a:rPr lang="en-US" smtClean="0"/>
              <a:t>5/27/26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A8B8-6B3D-4779-A1CC-09767831A91A}" type="datetime1">
              <a:rPr lang="en-US" smtClean="0"/>
              <a:t>5/27/26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F0F-C8F1-4757-B6DF-F80D7A79B872}" type="datetime1">
              <a:rPr lang="en-US" smtClean="0"/>
              <a:t>5/27/26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DFD81F-BFBF-415D-8405-C0F93516B68D}" type="datetime1">
              <a:rPr lang="en-US" smtClean="0"/>
              <a:t>5/27/26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29C7-623B-4106-BC28-43A8B3502422}" type="datetime1">
              <a:rPr lang="en-US" smtClean="0"/>
              <a:t>5/27/26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3F99CD-2C18-4A2E-8316-6DD2578C3BFD}" type="datetime1">
              <a:rPr lang="en-US" smtClean="0"/>
              <a:t>5/27/26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53EF-EC43-4647-B8AE-539F1EE3834D}" type="datetime1">
              <a:rPr lang="en-US" smtClean="0"/>
              <a:t>5/27/26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C4A4-9779-4099-B329-474746D321FE}" type="datetime1">
              <a:rPr lang="en-US" smtClean="0"/>
              <a:t>5/27/26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3420-E7D0-4F09-96D8-181EC29F25F4}" type="datetime1">
              <a:rPr lang="en-US" smtClean="0"/>
              <a:t>5/27/26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GWANGJU INSTITUTE OF SCIENCE AND TECHNOLOGY (GIST) SEMINAR, JULY 12, 2019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5EAF1AF7-8E07-442A-8E11-2E63F8314A9C}" type="datetime1">
              <a:rPr lang="en-US" smtClean="0"/>
              <a:t>5/27/26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068265" name="TextBox 12"/>
          <p:cNvSpPr txBox="1"/>
          <p:nvPr/>
        </p:nvSpPr>
        <p:spPr bwMode="auto">
          <a:xfrm>
            <a:off x="474622" y="4288015"/>
            <a:ext cx="11017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b="1" dirty="0" err="1">
                <a:latin typeface="Times New Roman"/>
                <a:cs typeface="Times New Roman"/>
              </a:rPr>
              <a:t>Hakjae</a:t>
            </a:r>
            <a:r>
              <a:rPr lang="en-US" sz="1200" b="1" dirty="0">
                <a:latin typeface="Times New Roman"/>
                <a:cs typeface="Times New Roman"/>
              </a:rPr>
              <a:t> Kim</a:t>
            </a:r>
            <a:endParaRPr lang="en-GB" sz="1200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GB" sz="1200" dirty="0">
                <a:latin typeface="Times New Roman"/>
                <a:cs typeface="Times New Roman"/>
              </a:rPr>
              <a:t>Department of </a:t>
            </a:r>
            <a:r>
              <a:rPr lang="en-US" sz="1200" dirty="0">
                <a:latin typeface="Times New Roman"/>
                <a:cs typeface="Times New Roman"/>
              </a:rPr>
              <a:t>Advanced Materials Science and Engineering</a:t>
            </a:r>
            <a:endParaRPr dirty="0"/>
          </a:p>
          <a:p>
            <a:pPr algn="ctr">
              <a:defRPr/>
            </a:pPr>
            <a:endParaRPr lang="en-GB" sz="1200" dirty="0">
              <a:latin typeface="Times New Roman"/>
              <a:cs typeface="Times New Roman"/>
            </a:endParaRPr>
          </a:p>
        </p:txBody>
      </p:sp>
      <p:sp>
        <p:nvSpPr>
          <p:cNvPr id="714764536" name="TextBox 14"/>
          <p:cNvSpPr txBox="1"/>
          <p:nvPr/>
        </p:nvSpPr>
        <p:spPr bwMode="auto">
          <a:xfrm>
            <a:off x="3166329" y="4850548"/>
            <a:ext cx="5785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200" dirty="0">
                <a:latin typeface="Times New Roman"/>
                <a:cs typeface="Times New Roman"/>
              </a:rPr>
              <a:t> Sungkyunkwan University </a:t>
            </a:r>
            <a:endParaRPr dirty="0"/>
          </a:p>
          <a:p>
            <a:pPr algn="ctr">
              <a:defRPr/>
            </a:pPr>
            <a:r>
              <a:rPr lang="en-GB" sz="1200" dirty="0">
                <a:latin typeface="Times New Roman"/>
                <a:cs typeface="Times New Roman"/>
              </a:rPr>
              <a:t>2066, </a:t>
            </a:r>
            <a:r>
              <a:rPr lang="en-GB" sz="1200" dirty="0" err="1">
                <a:latin typeface="Times New Roman"/>
                <a:cs typeface="Times New Roman"/>
              </a:rPr>
              <a:t>Seobu-ro</a:t>
            </a:r>
            <a:r>
              <a:rPr lang="en-GB" sz="1200" dirty="0">
                <a:latin typeface="Times New Roman"/>
                <a:cs typeface="Times New Roman"/>
              </a:rPr>
              <a:t>, </a:t>
            </a:r>
            <a:r>
              <a:rPr lang="en-GB" sz="1200" dirty="0" err="1">
                <a:latin typeface="Times New Roman"/>
                <a:cs typeface="Times New Roman"/>
              </a:rPr>
              <a:t>Jangan-gu</a:t>
            </a:r>
            <a:r>
              <a:rPr lang="en-GB" sz="1200" dirty="0">
                <a:latin typeface="Times New Roman"/>
                <a:cs typeface="Times New Roman"/>
              </a:rPr>
              <a:t>, Suwon-</a:t>
            </a:r>
            <a:r>
              <a:rPr lang="en-GB" sz="1200" dirty="0" err="1">
                <a:latin typeface="Times New Roman"/>
                <a:cs typeface="Times New Roman"/>
              </a:rPr>
              <a:t>si</a:t>
            </a:r>
            <a:r>
              <a:rPr lang="en-GB" sz="1200" dirty="0">
                <a:latin typeface="Times New Roman"/>
                <a:cs typeface="Times New Roman"/>
              </a:rPr>
              <a:t>, Gyeonggi-do, Korea </a:t>
            </a:r>
            <a:endParaRPr dirty="0"/>
          </a:p>
          <a:p>
            <a:pPr algn="ctr">
              <a:defRPr/>
            </a:pPr>
            <a:r>
              <a:rPr lang="en-GB" sz="1200" dirty="0">
                <a:latin typeface="Times New Roman"/>
                <a:cs typeface="Times New Roman"/>
              </a:rPr>
              <a:t> [e-mail: hjkim24@g.skku.edu] </a:t>
            </a:r>
            <a:endParaRPr dirty="0"/>
          </a:p>
        </p:txBody>
      </p:sp>
      <p:sp>
        <p:nvSpPr>
          <p:cNvPr id="1613752128" name="Title 1"/>
          <p:cNvSpPr txBox="1"/>
          <p:nvPr/>
        </p:nvSpPr>
        <p:spPr bwMode="auto">
          <a:xfrm>
            <a:off x="551384" y="2924944"/>
            <a:ext cx="11233248" cy="7408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0"/>
              </a:spcBef>
              <a:buFont typeface="Arial"/>
              <a:buNone/>
              <a:defRPr sz="34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 b="0">
                <a:latin typeface="Times New Roman"/>
              </a:rPr>
              <a:t>2026. 06. 09</a:t>
            </a:r>
          </a:p>
        </p:txBody>
      </p:sp>
      <p:sp>
        <p:nvSpPr>
          <p:cNvPr id="1985832490" name="TextBox 10"/>
          <p:cNvSpPr txBox="1"/>
          <p:nvPr/>
        </p:nvSpPr>
        <p:spPr bwMode="auto">
          <a:xfrm>
            <a:off x="0" y="18141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400" b="1">
                <a:latin typeface="Times New Roman"/>
              </a:rPr>
              <a:t>PROGRESS REPORT</a:t>
            </a:r>
          </a:p>
        </p:txBody>
      </p:sp>
      <p:sp>
        <p:nvSpPr>
          <p:cNvPr id="1510186391" name="슬라이드 번호 개체 틀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 lang="en-US"/>
              <a:t>1</a:t>
            </a:fld>
            <a:endParaRPr lang="en-US"/>
          </a:p>
        </p:txBody>
      </p:sp>
      <p:pic>
        <p:nvPicPr>
          <p:cNvPr id="153311580" name="그림 4" descr="텍스트, 폰트, 그래픽, 로고이(가) 표시된 사진&#10;&#10;자동 생성된 설명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711" y="-3232"/>
            <a:ext cx="2607905" cy="895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70DA866-8184-4138-8D75-6F12D87555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1. Overview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D3BA3F-679D-40E6-82FC-0934F9187A7D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940C9F-FB22-416C-BD71-2D82E4430EFF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2</a:t>
            </a: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38AD36E0-3A18-4D52-7D03-F9D9F95A4516}"/>
              </a:ext>
            </a:extLst>
          </p:cNvPr>
          <p:cNvSpPr/>
          <p:nvPr/>
        </p:nvSpPr>
        <p:spPr bwMode="auto">
          <a:xfrm>
            <a:off x="546100" y="1079500"/>
            <a:ext cx="11176000" cy="5486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2000" b="1">
                <a:latin typeface="맑은 고딕"/>
              </a:rPr>
              <a:t>0527 이후 — Progress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알고리즘</a:t>
            </a:r>
          </a:p>
          <a:p>
            <a:r>
              <a:rPr sz="1200" b="0">
                <a:latin typeface="맑은 고딕"/>
              </a:rPr>
              <a:t>  · α-knob multi-mode (latency / throughput / blended) 도입</a:t>
            </a:r>
          </a:p>
          <a:p>
            <a:r>
              <a:rPr sz="1200" b="0">
                <a:latin typeface="맑은 고딕"/>
              </a:rPr>
              <a:t>  · Async chain forwarding + ResultReady 역방향 채널</a:t>
            </a:r>
          </a:p>
          <a:p>
            <a:r>
              <a:rPr sz="1200" b="0">
                <a:latin typeface="맑은 고딕"/>
              </a:rPr>
              <a:t>  · Mirror cache + Trailer 기반 attribution</a:t>
            </a:r>
          </a:p>
          <a:p/>
          <a:p>
            <a:r>
              <a:rPr sz="1200" b="0">
                <a:latin typeface="맑은 고딕"/>
              </a:rPr>
              <a:t>▌ 측정</a:t>
            </a:r>
          </a:p>
          <a:p>
            <a:r>
              <a:rPr sz="1200" b="0">
                <a:latin typeface="맑은 고딕"/>
              </a:rPr>
              <a:t>  · 8-worker Jetson fleet (Orin Nano ×6, AGX Orin MAXN, AGX Xavier)</a:t>
            </a:r>
          </a:p>
          <a:p>
            <a:r>
              <a:rPr sz="1200" b="0">
                <a:latin typeface="맑은 고딕"/>
              </a:rPr>
              <a:t>  · OPT-350M 24-cell matrix + Llama-3.2-1B 9-cell sub-matrix</a:t>
            </a:r>
          </a:p>
          <a:p>
            <a:r>
              <a:rPr sz="1200" b="0">
                <a:latin typeface="맑은 고딕"/>
              </a:rPr>
              <a:t>  · Profiler 두 버그 fix → AGX MAXN 의 16× 우위 처음 노출</a:t>
            </a:r>
          </a:p>
          <a:p/>
          <a:p>
            <a:r>
              <a:rPr sz="1200" b="0">
                <a:latin typeface="맑은 고딕"/>
              </a:rPr>
              <a:t>▌ 결과물</a:t>
            </a:r>
          </a:p>
          <a:p>
            <a:r>
              <a:rPr sz="1200" b="0">
                <a:latin typeface="맑은 고딕"/>
              </a:rPr>
              <a:t>  · 영문 LaTeX paper (acmart sigconf, 8p) + 한글 LaTeX paper (KICS, 4p)</a:t>
            </a:r>
          </a:p>
          <a:p>
            <a:r>
              <a:rPr sz="1200" b="0">
                <a:latin typeface="맑은 고딕"/>
              </a:rPr>
              <a:t>  · 모든 section outline → real prose 완료</a:t>
            </a:r>
          </a:p>
        </p:txBody>
      </p:sp>
    </p:spTree>
    <p:extLst>
      <p:ext uri="{BB962C8B-B14F-4D97-AF65-F5344CB8AC3E}">
        <p14:creationId xmlns:p14="http://schemas.microsoft.com/office/powerpoint/2010/main" val="345836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70DA866-8184-4138-8D75-6F12D87555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2. Algorithm Evolution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D3BA3F-679D-40E6-82FC-0934F9187A7D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940C9F-FB22-416C-BD71-2D82E4430EFF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3</a:t>
            </a: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38AD36E0-3A18-4D52-7D03-F9D9F95A4516}"/>
              </a:ext>
            </a:extLst>
          </p:cNvPr>
          <p:cNvSpPr/>
          <p:nvPr/>
        </p:nvSpPr>
        <p:spPr bwMode="auto">
          <a:xfrm>
            <a:off x="546100" y="1079500"/>
            <a:ext cx="11176000" cy="5486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2000" b="1">
                <a:latin typeface="맑은 고딕"/>
              </a:rPr>
              <a:t>알고리즘 진화 — 0527 의 단일 throughput DP 에서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α-knob multi-mode</a:t>
            </a:r>
          </a:p>
          <a:p>
            <a:r>
              <a:rPr sz="1200" b="0">
                <a:latin typeface="맑은 고딕"/>
              </a:rPr>
              <a:t>  rank(ψ) = (1−α) Σ T(s) + α · max T(s)</a:t>
            </a:r>
          </a:p>
          <a:p>
            <a:r>
              <a:rPr sz="1200" b="0">
                <a:latin typeface="맑은 고딕"/>
              </a:rPr>
              <a:t>  α=0 latency (EdgeShard) · α=1 throughput (Jupiter) · 0&lt;α&lt;1 blended</a:t>
            </a:r>
          </a:p>
          <a:p>
            <a:r>
              <a:rPr sz="1200" b="0">
                <a:latin typeface="맑은 고딕"/>
              </a:rPr>
              <a:t>  → 같은 DP forward 가 3-mode 를 모두 지원 (cell = (sum, max) tuple)</a:t>
            </a:r>
          </a:p>
          <a:p/>
          <a:p>
            <a:r>
              <a:rPr sz="1200" b="0">
                <a:latin typeface="맑은 고딕"/>
              </a:rPr>
              <a:t>▌ Async chain forwarding</a:t>
            </a:r>
          </a:p>
          <a:p>
            <a:r>
              <a:rPr sz="1200" b="0">
                <a:latin typeface="맑은 고딕"/>
              </a:rPr>
              <a:t>  · 동기 chain 의 hidden cost: C streams × N stages = CN 핸들러 thread 점유</a:t>
            </a:r>
          </a:p>
          <a:p>
            <a:r>
              <a:rPr sz="1200" b="0">
                <a:latin typeface="맑은 고딕"/>
              </a:rPr>
              <a:t>  · 비동기 fire-and-forget + ResultReady reverse channel</a:t>
            </a:r>
          </a:p>
          <a:p>
            <a:r>
              <a:rPr sz="1200" b="0">
                <a:latin typeface="맑은 고딕"/>
              </a:rPr>
              <a:t>  · C=16 에서 +17–47% throughput, chain-length-independent</a:t>
            </a:r>
          </a:p>
          <a:p/>
          <a:p>
            <a:r>
              <a:rPr sz="1200" b="0">
                <a:latin typeface="맑은 고딕"/>
              </a:rPr>
              <a:t>▌ Mirror cache + Trailer attribution</a:t>
            </a:r>
          </a:p>
          <a:p>
            <a:r>
              <a:rPr sz="1200" b="0">
                <a:latin typeface="맑은 고딕"/>
              </a:rPr>
              <a:t>  · Worker → coordinator 단방향 MirrorActivation RPC (per-stage, ~1.2ms)</a:t>
            </a:r>
          </a:p>
          <a:p>
            <a:r>
              <a:rPr sz="1200" b="0">
                <a:latin typeface="맑은 고딕"/>
              </a:rPr>
              <a:t>  · gRPC trailer 에 실패 stage 의 (start, end) stamp → 원본 ψ_0 에서 lookup</a:t>
            </a:r>
          </a:p>
          <a:p>
            <a:r>
              <a:rPr sz="1200" b="0">
                <a:latin typeface="맑은 고딕"/>
              </a:rPr>
              <a:t>  · Heartbeat 가 substitute 한 후에도 진정으로 죽은 worker 정확 식별</a:t>
            </a:r>
          </a:p>
        </p:txBody>
      </p:sp>
    </p:spTree>
    <p:extLst>
      <p:ext uri="{BB962C8B-B14F-4D97-AF65-F5344CB8AC3E}">
        <p14:creationId xmlns:p14="http://schemas.microsoft.com/office/powerpoint/2010/main" val="149089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31EC7-8032-BAF1-D620-43B814591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31F01AC-70F7-70B4-C5CF-820569B0FE7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3. Measurement Infra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0DDC89-C367-0F78-916B-E4230DFBFFA0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4DEEEB-0160-70B5-2949-2969856E4077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4</a:t>
            </a: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8DD8E189-2CF7-20FE-64F6-D01ACBF48FF6}"/>
              </a:ext>
            </a:extLst>
          </p:cNvPr>
          <p:cNvSpPr/>
          <p:nvPr/>
        </p:nvSpPr>
        <p:spPr bwMode="auto">
          <a:xfrm>
            <a:off x="546100" y="1079500"/>
            <a:ext cx="3533676" cy="4616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2000" b="1">
                <a:latin typeface="맑은 고딕"/>
              </a:rPr>
              <a:t>측정 인프라 + AGX MAXN 의 16×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8-worker Jetson fleet</a:t>
            </a:r>
          </a:p>
          <a:p>
            <a:r>
              <a:rPr sz="1200" b="0">
                <a:latin typeface="맑은 고딕"/>
              </a:rPr>
              <a:t>  · Orin Nano 8GB × 6</a:t>
            </a:r>
          </a:p>
          <a:p>
            <a:r>
              <a:rPr sz="1200" b="0">
                <a:latin typeface="맑은 고딕"/>
              </a:rPr>
              <a:t>  · AGX Orin (MAXN power mode) × 1</a:t>
            </a:r>
          </a:p>
          <a:p>
            <a:r>
              <a:rPr sz="1200" b="0">
                <a:latin typeface="맑은 고딕"/>
              </a:rPr>
              <a:t>  · AGX Xavier × 1</a:t>
            </a:r>
          </a:p>
          <a:p>
            <a:r>
              <a:rPr sz="1200" b="0">
                <a:latin typeface="맑은 고딕"/>
              </a:rPr>
              <a:t>  · Mac coordinator, 동일 LAN</a:t>
            </a:r>
          </a:p>
          <a:p/>
          <a:p>
            <a:r>
              <a:rPr sz="1200" b="0">
                <a:latin typeface="맑은 고딕"/>
              </a:rPr>
              <a:t>▌ 두 profiler 버그 fix</a:t>
            </a:r>
          </a:p>
          <a:p>
            <a:r>
              <a:rPr sz="1200" b="0">
                <a:latin typeface="맑은 고딕"/>
              </a:rPr>
              <a:t>  · 버그 1: tokenizer padding silent no-op</a:t>
            </a:r>
          </a:p>
          <a:p>
            <a:r>
              <a:rPr sz="1200" b="0">
                <a:latin typeface="맑은 고딕"/>
              </a:rPr>
              <a:t>    (seq_length 무관하게 동일 측정)</a:t>
            </a:r>
          </a:p>
          <a:p>
            <a:r>
              <a:rPr sz="1200" b="0">
                <a:latin typeface="맑은 고딕"/>
              </a:rPr>
              <a:t>  · 버그 2: perf_counter() 가 CUDA</a:t>
            </a:r>
          </a:p>
          <a:p>
            <a:r>
              <a:rPr sz="1200" b="0">
                <a:latin typeface="맑은 고딕"/>
              </a:rPr>
              <a:t>    async kernel launch overhead 만 측정</a:t>
            </a:r>
          </a:p>
          <a:p/>
          <a:p>
            <a:r>
              <a:rPr sz="1200" b="0">
                <a:latin typeface="맑은 고딕"/>
              </a:rPr>
              <a:t>▌ fix 후 AGX MAXN @ seq=64 decode:</a:t>
            </a:r>
          </a:p>
          <a:p>
            <a:r>
              <a:rPr sz="1200" b="0">
                <a:latin typeface="맑은 고딕"/>
              </a:rPr>
              <a:t>  Nano CUDA 대비 16× faster</a:t>
            </a:r>
          </a:p>
          <a:p>
            <a:r>
              <a:rPr sz="1200" b="0">
                <a:latin typeface="맑은 고딕"/>
              </a:rPr>
              <a:t>  → heterogeneity 가 본격 발현</a:t>
            </a:r>
          </a:p>
        </p:txBody>
      </p:sp>
      <p:pic>
        <p:nvPicPr>
          <p:cNvPr id="9" name="Picture 8" descr="fig_t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828800"/>
            <a:ext cx="566928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1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5B54-4664-DF03-6A07-2DAA0FBC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069B1E-1036-389B-977B-750C17933D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4. Headline Result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C03D3A-DCDB-7CEC-A860-4253F098287E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A15559-8160-A9AF-C441-DCF406F10DA4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5</a:t>
            </a:r>
          </a:p>
        </p:txBody>
      </p:sp>
      <p:sp>
        <p:nvSpPr>
          <p:cNvPr id="8" name="Rectangle 66"/>
          <p:cNvSpPr>
            <a:spLocks noChangeArrowheads="1"/>
          </p:cNvSpPr>
          <p:nvPr/>
        </p:nvSpPr>
        <p:spPr bwMode="auto">
          <a:xfrm>
            <a:off x="50800" y="546100"/>
            <a:ext cx="7000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sz="2000" b="1">
                <a:latin typeface="맑은 고딕"/>
              </a:rPr>
              <a:t>Headline — L≻T 우위는 두 모델 크기에 걸쳐 C≥4 에서 구조적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24-cell OPT-350M matrix</a:t>
            </a:r>
          </a:p>
          <a:p>
            <a:r>
              <a:rPr sz="1200" b="0">
                <a:latin typeface="맑은 고딕"/>
              </a:rPr>
              <a:t>  (2 chain × 4 cell × 3 C)</a:t>
            </a:r>
          </a:p>
          <a:p>
            <a:r>
              <a:rPr sz="1200" b="0">
                <a:latin typeface="맑은 고딕"/>
              </a:rPr>
              <a:t>  + 9-cell Llama-1B sub-matrix</a:t>
            </a:r>
          </a:p>
          <a:p/>
          <a:p>
            <a:r>
              <a:rPr sz="1200" b="0">
                <a:latin typeface="맑은 고딕"/>
              </a:rPr>
              <a:t>▌ 핵심 finding</a:t>
            </a:r>
          </a:p>
          <a:p>
            <a:r>
              <a:rPr sz="1200" b="0">
                <a:latin typeface="맑은 고딕"/>
              </a:rPr>
              <a:t>  · OPT-350M 24 점 모두에서</a:t>
            </a:r>
          </a:p>
          <a:p>
            <a:r>
              <a:rPr sz="1200" b="0">
                <a:latin typeface="맑은 고딕"/>
              </a:rPr>
              <a:t>    L ≻ T (pairwise)</a:t>
            </a:r>
          </a:p>
          <a:p>
            <a:r>
              <a:rPr sz="1200" b="0">
                <a:latin typeface="맑은 고딕"/>
              </a:rPr>
              <a:t>  · Best: L+async @ C=16 4-stage</a:t>
            </a:r>
          </a:p>
          <a:p>
            <a:r>
              <a:rPr sz="1200" b="0">
                <a:latin typeface="맑은 고딕"/>
              </a:rPr>
              <a:t>    = 41.65 tok/s</a:t>
            </a:r>
          </a:p>
          <a:p>
            <a:r>
              <a:rPr sz="1200" b="0">
                <a:latin typeface="맑은 고딕"/>
              </a:rPr>
              <a:t>  · Worst: T+sync @ C=16 3-stage</a:t>
            </a:r>
          </a:p>
          <a:p>
            <a:r>
              <a:rPr sz="1200" b="0">
                <a:latin typeface="맑은 고딕"/>
              </a:rPr>
              <a:t>    = 23.49 tok/s</a:t>
            </a:r>
          </a:p>
          <a:p>
            <a:r>
              <a:rPr sz="1200" b="0">
                <a:latin typeface="맑은 고딕"/>
              </a:rPr>
              <a:t>  · +77% span — 두 runtime knob</a:t>
            </a:r>
          </a:p>
          <a:p>
            <a:r>
              <a:rPr sz="1200" b="0">
                <a:latin typeface="맑은 고딕"/>
              </a:rPr>
              <a:t>    (placement, chain_mode) 으로 cover</a:t>
            </a:r>
          </a:p>
          <a:p/>
          <a:p>
            <a:r>
              <a:rPr sz="1200" b="0">
                <a:latin typeface="맑은 고딕"/>
              </a:rPr>
              <a:t>▌ Llama-1B (3× 큰 모델) 도 동일 pattern</a:t>
            </a:r>
          </a:p>
        </p:txBody>
      </p:sp>
      <p:pic>
        <p:nvPicPr>
          <p:cNvPr id="10" name="Picture 9" descr="fig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54480"/>
            <a:ext cx="60350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4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5B54-4664-DF03-6A07-2DAA0FBC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069B1E-1036-389B-977B-750C17933D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5. Async + Model Scaling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C03D3A-DCDB-7CEC-A860-4253F098287E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A15559-8160-A9AF-C441-DCF406F10DA4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6</a:t>
            </a:r>
          </a:p>
        </p:txBody>
      </p:sp>
      <p:sp>
        <p:nvSpPr>
          <p:cNvPr id="8" name="Rectangle 66"/>
          <p:cNvSpPr>
            <a:spLocks noChangeArrowheads="1"/>
          </p:cNvSpPr>
          <p:nvPr/>
        </p:nvSpPr>
        <p:spPr bwMode="auto">
          <a:xfrm>
            <a:off x="50800" y="546100"/>
            <a:ext cx="7000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sz="2000" b="1">
                <a:latin typeface="맑은 고딕"/>
              </a:rPr>
              <a:t>Async chain + 모델 크기 일반화 — C=1 cross-over 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Async &gt; sync, chain-length-independent</a:t>
            </a:r>
          </a:p>
          <a:p>
            <a:r>
              <a:rPr sz="1200" b="0">
                <a:latin typeface="맑은 고딕"/>
              </a:rPr>
              <a:t>  · T-placement @ C=16: 3-stage +47% (23.49 → 34.49 tok/s)</a:t>
            </a:r>
          </a:p>
          <a:p>
            <a:r>
              <a:rPr sz="1200" b="0">
                <a:latin typeface="맑은 고딕"/>
              </a:rPr>
              <a:t>  ·                    4-stage +46% (24.47 → 35.69 tok/s)</a:t>
            </a:r>
          </a:p>
          <a:p>
            <a:r>
              <a:rPr sz="1200" b="0">
                <a:latin typeface="맑은 고딕"/>
              </a:rPr>
              <a:t>  · 동시성에 비례, chain length 에 무관</a:t>
            </a:r>
          </a:p>
          <a:p/>
          <a:p>
            <a:r>
              <a:rPr sz="1200" b="0">
                <a:latin typeface="맑은 고딕"/>
              </a:rPr>
              <a:t>▌ Model-size generalisation (Llama-3.2-1B, 3× 큰 모델)</a:t>
            </a:r>
          </a:p>
          <a:p>
            <a:r>
              <a:rPr sz="1200" b="0">
                <a:latin typeface="맑은 고딕"/>
              </a:rPr>
              <a:t>  · L≽T 가 C ≥ 4 에서 유지 (L+async @ C=4 best, +12% vs T+async)</a:t>
            </a:r>
          </a:p>
          <a:p>
            <a:r>
              <a:rPr sz="1200" b="0">
                <a:latin typeface="맑은 고딕"/>
              </a:rPr>
              <a:t>  · 단 C=1 single-stream 에서 T+async &gt; L+async on throughput</a:t>
            </a:r>
          </a:p>
          <a:p>
            <a:r>
              <a:rPr sz="1200" b="0">
                <a:latin typeface="맑은 고딕"/>
              </a:rPr>
              <a:t>    (3.74 vs 3.05 tok/s, −18%)</a:t>
            </a:r>
          </a:p>
          <a:p>
            <a:r>
              <a:rPr sz="1200" b="0">
                <a:latin typeface="맑은 고딕"/>
              </a:rPr>
              <a:t>  · 그러나 TBT p50 는 여전히 L 우위 (174 vs 261 ms, −33%)</a:t>
            </a:r>
          </a:p>
          <a:p/>
          <a:p>
            <a:r>
              <a:rPr sz="1200" b="0">
                <a:latin typeface="맑은 고딕"/>
              </a:rPr>
              <a:t>▌ Claim 한정:</a:t>
            </a:r>
          </a:p>
          <a:p>
            <a:r>
              <a:rPr sz="1200" b="0">
                <a:latin typeface="맑은 고딕"/>
              </a:rPr>
              <a:t>  Single-stream 큰 모델 regime 에서 throughput-vs-TBT trade-off 발생</a:t>
            </a:r>
          </a:p>
        </p:txBody>
      </p:sp>
    </p:spTree>
    <p:extLst>
      <p:ext uri="{BB962C8B-B14F-4D97-AF65-F5344CB8AC3E}">
        <p14:creationId xmlns:p14="http://schemas.microsoft.com/office/powerpoint/2010/main" val="237772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5B54-4664-DF03-6A07-2DAA0FBC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069B1E-1036-389B-977B-750C17933D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6. Failure Recovery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C03D3A-DCDB-7CEC-A860-4253F098287E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A15559-8160-A9AF-C441-DCF406F10DA4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7</a:t>
            </a:r>
          </a:p>
        </p:txBody>
      </p:sp>
      <p:sp>
        <p:nvSpPr>
          <p:cNvPr id="8" name="Rectangle 66"/>
          <p:cNvSpPr>
            <a:spLocks noChangeArrowheads="1"/>
          </p:cNvSpPr>
          <p:nvPr/>
        </p:nvSpPr>
        <p:spPr bwMode="auto">
          <a:xfrm>
            <a:off x="50800" y="546100"/>
            <a:ext cx="7000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sz="2000" b="1">
                <a:latin typeface="맑은 고딕"/>
              </a:rPr>
              <a:t>장애 복구 — Star (5 trials) + Chain (sync/async)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Star topology (RADP)</a:t>
            </a:r>
          </a:p>
          <a:p>
            <a:r>
              <a:rPr sz="1200" b="0">
                <a:latin typeface="맑은 고딕"/>
              </a:rPr>
              <a:t>  · SIGKILL × 5 trials</a:t>
            </a:r>
          </a:p>
          <a:p>
            <a:r>
              <a:rPr sz="1200" b="0">
                <a:latin typeface="맑은 고딕"/>
              </a:rPr>
              <a:t>  · 5/5 trial 60/60 token 전달</a:t>
            </a:r>
          </a:p>
          <a:p>
            <a:r>
              <a:rPr sz="1200" b="0">
                <a:latin typeface="맑은 고딕"/>
              </a:rPr>
              <a:t>  · Recovery: mean 729ms, p95 883ms</a:t>
            </a:r>
          </a:p>
          <a:p/>
          <a:p>
            <a:r>
              <a:rPr sz="1200" b="0">
                <a:latin typeface="맑은 고딕"/>
              </a:rPr>
              <a:t>▌ Chain topology (4-stage)</a:t>
            </a:r>
          </a:p>
          <a:p>
            <a:r>
              <a:rPr sz="1200" b="0">
                <a:latin typeface="맑은 고딕"/>
              </a:rPr>
              <a:t>  · mid-chain (on-6) kill</a:t>
            </a:r>
          </a:p>
          <a:p>
            <a:r>
              <a:rPr sz="1200" b="0">
                <a:latin typeface="맑은 고딕"/>
              </a:rPr>
              <a:t>  · Sync: trailer attribution → ~3.6s</a:t>
            </a:r>
          </a:p>
          <a:p>
            <a:r>
              <a:rPr sz="1200" b="0">
                <a:latin typeface="맑은 고딕"/>
              </a:rPr>
              <a:t>  · Async: heartbeat fallback → ~4s</a:t>
            </a:r>
          </a:p>
          <a:p>
            <a:r>
              <a:rPr sz="1200" b="0">
                <a:latin typeface="맑은 고딕"/>
              </a:rPr>
              <a:t>  · ψ+R guarantee 가 correctness 유지</a:t>
            </a:r>
          </a:p>
          <a:p/>
          <a:p>
            <a:r>
              <a:rPr sz="1200" b="0">
                <a:latin typeface="맑은 고딕"/>
              </a:rPr>
              <a:t>▌ Baseline 3종 (greedy/uniform/Jupiter-DP)</a:t>
            </a:r>
          </a:p>
          <a:p>
            <a:r>
              <a:rPr sz="1200" b="0">
                <a:latin typeface="맑은 고딕"/>
              </a:rPr>
              <a:t>  · SIGKILL 경계에서 17–20 token 손실</a:t>
            </a:r>
          </a:p>
          <a:p>
            <a:r>
              <a:rPr sz="1200" b="0">
                <a:latin typeface="맑은 고딕"/>
              </a:rPr>
              <a:t>  · stream abort, recovery 없음</a:t>
            </a:r>
          </a:p>
        </p:txBody>
      </p:sp>
      <p:pic>
        <p:nvPicPr>
          <p:cNvPr id="10" name="Picture 9" descr="fig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5943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4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5B54-4664-DF03-6A07-2DAA0FBC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069B1E-1036-389B-977B-750C17933D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400" b="1">
                <a:latin typeface="Times New Roman"/>
              </a:rPr>
              <a:t>7. Paper + Backlog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C03D3A-DCDB-7CEC-A860-4253F098287E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A15559-8160-A9AF-C441-DCF406F10DA4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latin typeface="Times New Roman"/>
              </a:rPr>
              <a:t>8</a:t>
            </a:r>
          </a:p>
        </p:txBody>
      </p:sp>
      <p:sp>
        <p:nvSpPr>
          <p:cNvPr id="8" name="Rectangle 66"/>
          <p:cNvSpPr>
            <a:spLocks noChangeArrowheads="1"/>
          </p:cNvSpPr>
          <p:nvPr/>
        </p:nvSpPr>
        <p:spPr bwMode="auto">
          <a:xfrm>
            <a:off x="50800" y="546100"/>
            <a:ext cx="7000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sz="2000" b="1">
                <a:latin typeface="맑은 고딕"/>
              </a:rPr>
              <a:t>논문 작성 + 남은 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▌ 논문 작성 (LaTeX 단일 워크플로우)</a:t>
            </a:r>
          </a:p>
          <a:p>
            <a:r>
              <a:rPr sz="1200" b="0">
                <a:latin typeface="맑은 고딕"/>
              </a:rPr>
              <a:t>  · 영문: acmart sigconf, 8p (body 7 + ref 1) — 모든 section prose 완료</a:t>
            </a:r>
          </a:p>
          <a:p>
            <a:r>
              <a:rPr sz="1200" b="0">
                <a:latin typeface="맑은 고딕"/>
              </a:rPr>
              <a:t>  · 한글: KICS 양식, A4 twocolumn, 4p, KoPub Batang/Dotum 폰트</a:t>
            </a:r>
          </a:p>
          <a:p>
            <a:r>
              <a:rPr sz="1200" b="0">
                <a:latin typeface="맑은 고딕"/>
              </a:rPr>
              <a:t>  · 두 양식 동일 references.bib 공유 (Petals/EdgeShard/Jupiter/Helix)</a:t>
            </a:r>
          </a:p>
          <a:p/>
          <a:p>
            <a:r>
              <a:rPr sz="1200" b="0">
                <a:latin typeface="맑은 고딕"/>
              </a:rPr>
              <a:t>▌ 단기 (다음 보고 전)</a:t>
            </a:r>
          </a:p>
          <a:p>
            <a:r>
              <a:rPr sz="1200" b="0">
                <a:latin typeface="맑은 고딕"/>
              </a:rPr>
              <a:t>  · Llama-1B L+sync cell 측정 → 4-cell matrix 완성</a:t>
            </a:r>
          </a:p>
          <a:p>
            <a:r>
              <a:rPr sz="1200" b="0">
                <a:latin typeface="맑은 고딕"/>
              </a:rPr>
              <a:t>  · 영문 paper §10.2 baseline 측정 prose 확정</a:t>
            </a:r>
          </a:p>
          <a:p>
            <a:r>
              <a:rPr sz="1200" b="0">
                <a:latin typeface="맑은 고딕"/>
              </a:rPr>
              <a:t>  · 한글 paper 국내 reference 1편 추가 (KICS 권장)</a:t>
            </a:r>
          </a:p>
          <a:p/>
          <a:p>
            <a:r>
              <a:rPr sz="1200" b="0">
                <a:latin typeface="맑은 고딕"/>
              </a:rPr>
              <a:t>▌ 중장기</a:t>
            </a:r>
          </a:p>
          <a:p>
            <a:r>
              <a:rPr sz="1200" b="0">
                <a:latin typeface="맑은 고딕"/>
              </a:rPr>
              <a:t>  · A2 — R 단일 백업 → 백업 list 로 확장 (cascading failure)</a:t>
            </a:r>
          </a:p>
          <a:p>
            <a:r>
              <a:rPr sz="1200" b="0">
                <a:latin typeface="맑은 고딕"/>
              </a:rPr>
              <a:t>  · 7B INT4 측정 (Nano memory pressure 해소 후)</a:t>
            </a:r>
          </a:p>
          <a:p>
            <a:r>
              <a:rPr sz="1200" b="0">
                <a:latin typeface="맑은 고딕"/>
              </a:rPr>
              <a:t>  · Cost function 의 marginal-layer term (predicted-vs-measured 2–4% 격차)</a:t>
            </a:r>
          </a:p>
        </p:txBody>
      </p:sp>
    </p:spTree>
    <p:extLst>
      <p:ext uri="{BB962C8B-B14F-4D97-AF65-F5344CB8AC3E}">
        <p14:creationId xmlns:p14="http://schemas.microsoft.com/office/powerpoint/2010/main" val="368011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6395-58F0-BF69-E414-10883343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A0A9A4-FEDB-549A-25B2-EC2BAD1205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>
              <a:lnSpc>
                <a:spcPct val="100000"/>
              </a:lnSpc>
            </a:pPr>
            <a:r>
              <a:rPr lang="en-US" altLang="ko-KR" sz="2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2.</a:t>
            </a:r>
            <a:r>
              <a:rPr lang="ko-KR" altLang="en-US" sz="2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2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Project Progress</a:t>
            </a:r>
            <a:endParaRPr lang="en-US" sz="2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49C119-DCD7-9D51-C097-FE7B47ED75EB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7761602-0024-EA47-D6F0-9A8DD7D3DEC1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8D9AD5-F248-4919-864A-CFD76CC027D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3CEAB25B-F62F-3327-7262-1BB6C424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" y="546100"/>
            <a:ext cx="856548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400" dirty="0">
                <a:solidFill>
                  <a:srgbClr val="0070C0"/>
                </a:solidFill>
                <a:latin typeface="Century Gothic" panose="020B0502020202020204" pitchFamily="34" charset="0"/>
                <a:ea typeface="맑은 고딕" panose="020B0503020000020004" pitchFamily="34" charset="-127"/>
                <a:cs typeface="Century Gothic" panose="020B0502020202020204" pitchFamily="34" charset="0"/>
              </a:rPr>
              <a:t>Ansible</a:t>
            </a:r>
            <a:r>
              <a:rPr lang="ko-KR" altLang="en-US" sz="2400" dirty="0">
                <a:solidFill>
                  <a:srgbClr val="0070C0"/>
                </a:solidFill>
                <a:latin typeface="Century Gothic" panose="020B0502020202020204" pitchFamily="34" charset="0"/>
                <a:ea typeface="맑은 고딕" panose="020B0503020000020004" pitchFamily="34" charset="-127"/>
                <a:cs typeface="Century Gothic" panose="020B0502020202020204" pitchFamily="34" charset="0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latin typeface="Century Gothic" panose="020B0502020202020204" pitchFamily="34" charset="0"/>
                <a:ea typeface="맑은 고딕" panose="020B0503020000020004" pitchFamily="34" charset="-127"/>
                <a:cs typeface="Century Gothic" panose="020B0502020202020204" pitchFamily="34" charset="0"/>
              </a:rPr>
              <a:t>–</a:t>
            </a:r>
            <a:r>
              <a:rPr lang="ko-KR" altLang="en-US" sz="2400" dirty="0">
                <a:solidFill>
                  <a:srgbClr val="0070C0"/>
                </a:solidFill>
                <a:latin typeface="Century Gothic" panose="020B0502020202020204" pitchFamily="34" charset="0"/>
                <a:ea typeface="맑은 고딕" panose="020B0503020000020004" pitchFamily="34" charset="-127"/>
                <a:cs typeface="Century Gothic" panose="020B0502020202020204" pitchFamily="34" charset="0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latin typeface="Century Gothic" panose="020B0502020202020204" pitchFamily="34" charset="0"/>
                <a:ea typeface="맑은 고딕" panose="020B0503020000020004" pitchFamily="34" charset="-127"/>
                <a:cs typeface="Century Gothic" panose="020B0502020202020204" pitchFamily="34" charset="0"/>
              </a:rPr>
              <a:t>Orchestration Tool for handling Multiple Nodes</a:t>
            </a:r>
            <a:endParaRPr lang="en-US" sz="2400" b="0" dirty="0">
              <a:solidFill>
                <a:srgbClr val="0070C0"/>
              </a:solidFill>
              <a:latin typeface="Century Gothic" panose="020B0502020202020204" pitchFamily="34" charset="0"/>
              <a:ea typeface="맑은 고딕" panose="020B0503020000020004" pitchFamily="34" charset="-127"/>
              <a:cs typeface="Century Gothic" panose="020B0502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687B5B1-BD4E-1E6B-24C2-F9F64914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412776"/>
            <a:ext cx="4220926" cy="36321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A3AA2C-4B9E-F2A6-4ECC-2560695EE646}"/>
              </a:ext>
            </a:extLst>
          </p:cNvPr>
          <p:cNvSpPr txBox="1"/>
          <p:nvPr/>
        </p:nvSpPr>
        <p:spPr>
          <a:xfrm>
            <a:off x="1936744" y="5085033"/>
            <a:ext cx="145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Inventory.ini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AF6AB-A5E1-4CDA-92E6-7B751DC027D5}"/>
              </a:ext>
            </a:extLst>
          </p:cNvPr>
          <p:cNvSpPr txBox="1"/>
          <p:nvPr/>
        </p:nvSpPr>
        <p:spPr>
          <a:xfrm>
            <a:off x="5087888" y="1196752"/>
            <a:ext cx="572464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[common]</a:t>
            </a:r>
          </a:p>
          <a:p>
            <a:r>
              <a:rPr kumimoji="1" lang="en-US" altLang="ko-KR" sz="1600" dirty="0"/>
              <a:t>1. OS </a:t>
            </a:r>
            <a:r>
              <a:rPr kumimoji="1" lang="ko-KR" altLang="en-US" sz="1600" dirty="0"/>
              <a:t>패키지 설치 </a:t>
            </a:r>
            <a:endParaRPr kumimoji="1" lang="en-US" altLang="ko-KR" sz="1600" dirty="0"/>
          </a:p>
          <a:p>
            <a:r>
              <a:rPr kumimoji="1" lang="en-US" altLang="ko-KR" sz="1600" dirty="0"/>
              <a:t>2. NTP </a:t>
            </a:r>
            <a:r>
              <a:rPr kumimoji="1" lang="ko-KR" altLang="en-US" sz="1600" dirty="0"/>
              <a:t>동기화 활성화 </a:t>
            </a:r>
            <a:r>
              <a:rPr kumimoji="1" lang="en-US" altLang="ko-KR" sz="1600" dirty="0"/>
              <a:t>— heartbeat </a:t>
            </a:r>
            <a:r>
              <a:rPr kumimoji="1" lang="ko-KR" altLang="en-US" sz="1600" dirty="0"/>
              <a:t>시간 비교</a:t>
            </a:r>
            <a:endParaRPr kumimoji="1" lang="en-US" altLang="ko-KR" sz="1600" dirty="0"/>
          </a:p>
          <a:p>
            <a:r>
              <a:rPr kumimoji="1" lang="en-US" altLang="ko-KR" sz="1600" dirty="0"/>
              <a:t>3. /home/&lt;user&gt;/</a:t>
            </a:r>
            <a:r>
              <a:rPr kumimoji="1" lang="en-US" altLang="ko-KR" sz="1600" dirty="0" err="1"/>
              <a:t>radp</a:t>
            </a:r>
            <a:r>
              <a:rPr kumimoji="1" lang="en-US" altLang="ko-KR" sz="1600" dirty="0"/>
              <a:t> </a:t>
            </a:r>
            <a:r>
              <a:rPr kumimoji="1" lang="ko-KR" altLang="en-US" sz="1600" dirty="0"/>
              <a:t>디렉토리 생성 </a:t>
            </a:r>
            <a:r>
              <a:rPr kumimoji="1" lang="en-US" altLang="ko-KR" sz="1600" dirty="0"/>
              <a:t>(</a:t>
            </a:r>
            <a:r>
              <a:rPr kumimoji="1" lang="en-US" altLang="ko-KR" sz="1600" dirty="0" err="1"/>
              <a:t>sudo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소유권 </a:t>
            </a:r>
            <a:r>
              <a:rPr kumimoji="1" lang="en-US" altLang="ko-KR" sz="1600" dirty="0"/>
              <a:t>user</a:t>
            </a:r>
            <a:r>
              <a:rPr kumimoji="1" lang="ko-KR" altLang="en-US" sz="1600" dirty="0"/>
              <a:t>로</a:t>
            </a:r>
            <a:r>
              <a:rPr kumimoji="1" lang="en-US" altLang="ko-KR" sz="1600" dirty="0"/>
              <a:t>)</a:t>
            </a:r>
          </a:p>
          <a:p>
            <a:r>
              <a:rPr kumimoji="1" lang="en-US" altLang="ko-KR" sz="1600" dirty="0"/>
              <a:t>4. git clone/pull</a:t>
            </a:r>
          </a:p>
          <a:p>
            <a:r>
              <a:rPr kumimoji="1" lang="en-US" altLang="ko-KR" sz="1600" dirty="0"/>
              <a:t>5. </a:t>
            </a:r>
            <a:r>
              <a:rPr kumimoji="1" lang="en-US" altLang="ko-KR" sz="1600" dirty="0" err="1"/>
              <a:t>venv</a:t>
            </a:r>
            <a:r>
              <a:rPr kumimoji="1" lang="en-US" altLang="ko-KR" sz="1600" dirty="0"/>
              <a:t> </a:t>
            </a:r>
            <a:r>
              <a:rPr kumimoji="1" lang="ko-KR" altLang="en-US" sz="1600" dirty="0"/>
              <a:t>생성</a:t>
            </a:r>
            <a:endParaRPr kumimoji="1" lang="en-US" altLang="ko-KR" sz="1600" dirty="0"/>
          </a:p>
          <a:p>
            <a:r>
              <a:rPr kumimoji="1" lang="en-US" altLang="ko-KR" sz="1600" dirty="0"/>
              <a:t>6. pip + wheel + </a:t>
            </a:r>
            <a:r>
              <a:rPr kumimoji="1" lang="en-US" altLang="ko-KR" sz="1600" dirty="0" err="1"/>
              <a:t>setuptools</a:t>
            </a:r>
            <a:endParaRPr kumimoji="1" lang="en-US" altLang="ko-KR" sz="1600" dirty="0"/>
          </a:p>
          <a:p>
            <a:r>
              <a:rPr kumimoji="1" lang="en-US" altLang="ko-KR" sz="1600" dirty="0"/>
              <a:t>7. Jetson torch wheel </a:t>
            </a:r>
            <a:r>
              <a:rPr kumimoji="1" lang="ko-KR" altLang="en-US" sz="1600" dirty="0"/>
              <a:t>설치</a:t>
            </a:r>
            <a:endParaRPr kumimoji="1" lang="en-US" altLang="ko-KR" sz="1600" dirty="0"/>
          </a:p>
          <a:p>
            <a:r>
              <a:rPr kumimoji="1" lang="en-US" altLang="ko-KR" sz="1600" dirty="0"/>
              <a:t>8. </a:t>
            </a:r>
            <a:r>
              <a:rPr kumimoji="1" lang="en-US" altLang="ko-KR" sz="1600" dirty="0" err="1"/>
              <a:t>radp</a:t>
            </a:r>
            <a:r>
              <a:rPr kumimoji="1" lang="en-US" altLang="ko-KR" sz="1600" dirty="0"/>
              <a:t> pip install</a:t>
            </a:r>
          </a:p>
          <a:p>
            <a:r>
              <a:rPr kumimoji="1" lang="en-US" altLang="ko-KR" sz="1600" dirty="0"/>
              <a:t>9. </a:t>
            </a:r>
            <a:r>
              <a:rPr kumimoji="1" lang="en-US" altLang="ko-KR" sz="1600" dirty="0" err="1"/>
              <a:t>gRPC</a:t>
            </a:r>
            <a:r>
              <a:rPr kumimoji="1" lang="en-US" altLang="ko-KR" sz="1600" dirty="0"/>
              <a:t> proto </a:t>
            </a:r>
            <a:r>
              <a:rPr kumimoji="1" lang="ko-KR" altLang="en-US" sz="1600" dirty="0"/>
              <a:t>생성</a:t>
            </a:r>
            <a:endParaRPr kumimoji="1"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1DF2EB1-4674-05C2-86B6-78876ACEE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3070780"/>
            <a:ext cx="4443681" cy="286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70DA866-8184-4138-8D75-6F12D87555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73108"/>
          </a:xfrm>
          <a:prstGeom prst="rect">
            <a:avLst/>
          </a:prstGeom>
          <a:solidFill>
            <a:srgbClr val="20284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>
              <a:lnSpc>
                <a:spcPct val="100000"/>
              </a:lnSpc>
            </a:pPr>
            <a:r>
              <a:rPr lang="en-US" sz="2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en-US" altLang="ko-KR" sz="2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References</a:t>
            </a:r>
            <a:endParaRPr lang="en-US" sz="2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D3BA3F-679D-40E6-82FC-0934F9187A7D}"/>
              </a:ext>
            </a:extLst>
          </p:cNvPr>
          <p:cNvSpPr txBox="1">
            <a:spLocks/>
          </p:cNvSpPr>
          <p:nvPr/>
        </p:nvSpPr>
        <p:spPr>
          <a:xfrm>
            <a:off x="0" y="18288"/>
            <a:ext cx="12192000" cy="435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230F93-C0E9-4DE9-8FC9-59D43F99DC2A}"/>
              </a:ext>
            </a:extLst>
          </p:cNvPr>
          <p:cNvSpPr txBox="1">
            <a:spLocks/>
          </p:cNvSpPr>
          <p:nvPr/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8D9AD5-F248-4919-864A-CFD76CC027D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23149-E57B-814D-BA6F-7A8F8D1DB3DB}"/>
              </a:ext>
            </a:extLst>
          </p:cNvPr>
          <p:cNvSpPr txBox="1"/>
          <p:nvPr/>
        </p:nvSpPr>
        <p:spPr>
          <a:xfrm>
            <a:off x="546100" y="1714500"/>
            <a:ext cx="11239500" cy="476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[1] A. Borzunov et al.,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"Petals: Collaborative Inference and Fine-tuning of Large Models,"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in Proc. 61st ACL, vol. 3, pp. 558-568, 2023.</a:t>
            </a:r>
          </a:p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[2] Y. Jiang et al.,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"HexGen-2: Disaggregated Generative Inference of LLMs in Heterogeneous Environment,"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in Proc. ICLR, 2025. arXiv:2502.07903.</a:t>
            </a:r>
          </a:p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[3] X. Mei et al.,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"Helix: Distributed Serving of Large Language Models via Max-Flow on Heterogeneous GPUs,"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in Proc. ASPLOS, 2025.</a:t>
            </a:r>
          </a:p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[4] M. Zhang, J. Cao, X. Shen, Z. Cui, and S. Jiang,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"EdgeShard: Efficient LLM Inference via Collaborative Edge Computing,"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IEEE Internet Things J., 2024, doi: 10.1109/JIOT.2024.3524255.</a:t>
            </a:r>
          </a:p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[5] S. Ye et al.,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"Jupiter: Fast and Resource-Efficient Collaborative Inference of Generative LLMs on Edge Devices,"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in Proc. IEEE INFOCOM, pp. 1-10, 2025. arXiv:2504.08242.</a:t>
            </a:r>
          </a:p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[6] X. Miao, C. Shi, J. Duan, X. Xi, D. Lin, B. Cui, and Z. Jia,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"SpotServe: Serving Generative Large Language Models on Preemptible Instances,"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in Proc. 29th ACM ASPLOS, vol. 2, pp. 1112-1127, 2024.</a:t>
            </a:r>
          </a:p>
          <a:p>
            <a:pPr marL="0" indent="0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[7] T. Zheng, Y. Bi, G. Han, T. Xiang, L. Xu, Q. He, and L. Zhao, </a:t>
            </a:r>
            <a:r>
              <a:rPr lang="en-US" altLang="ko-KR" sz="1200" i="1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"Joint Optimization of Dynamic Batching and Adaptive Partitioning for Distributed LLMs Inference in Mobile Edge Computing,"</a:t>
            </a:r>
            <a:r>
              <a:rPr lang="en-US" altLang="ko-KR" sz="1200" dirty="0">
                <a:solidFill>
                  <a:srgbClr val="263050"/>
                </a:solidFill>
                <a:latin typeface="맑은 고딕" panose="020B0603020101020101" pitchFamily="50" charset="-127"/>
                <a:ea typeface="맑은 고딕" panose="020B0603020101020101" pitchFamily="50" charset="-127"/>
              </a:rPr>
              <a:t> IEEE Trans. Mobile Comput., 2026.</a:t>
            </a:r>
          </a:p>
        </p:txBody>
      </p:sp>
    </p:spTree>
    <p:extLst>
      <p:ext uri="{BB962C8B-B14F-4D97-AF65-F5344CB8AC3E}">
        <p14:creationId xmlns:p14="http://schemas.microsoft.com/office/powerpoint/2010/main" val="245529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384020-F334-3845-AEAA-54B8C0173DE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8fbf9d7-fe57-4fe1-9cf2-926bd6a0c50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195844</TotalTime>
  <Words>1457</Words>
  <Application>Microsoft Macintosh PowerPoint</Application>
  <PresentationFormat>와이드스크린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맑은 고딕</vt:lpstr>
      <vt:lpstr>Arial</vt:lpstr>
      <vt:lpstr>Arial Narrow</vt:lpstr>
      <vt:lpstr>Century Gothic</vt:lpstr>
      <vt:lpstr>Corbel</vt:lpstr>
      <vt:lpstr>Euphemia</vt:lpstr>
      <vt:lpstr>Times New Roman</vt:lpstr>
      <vt:lpstr>Wingdings</vt:lpstr>
      <vt:lpstr>Banded Design Blue 16x9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Eugenio Morocho</dc:creator>
  <cp:lastModifiedBy>김학재</cp:lastModifiedBy>
  <cp:revision>2300</cp:revision>
  <cp:lastPrinted>2019-01-04T04:53:40Z</cp:lastPrinted>
  <dcterms:created xsi:type="dcterms:W3CDTF">2017-06-13T09:39:50Z</dcterms:created>
  <dcterms:modified xsi:type="dcterms:W3CDTF">2026-05-27T08:15:40Z</dcterms:modified>
</cp:coreProperties>
</file>