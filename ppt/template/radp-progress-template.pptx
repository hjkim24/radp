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sldSz cx="12192000" cy="6858000"/>
  <p:notesSz cx="6802438" cy="9934575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53142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8CDE508-72C8-4AB5-AA9C-1584D31690E0}" type="datetimeFigureOut">
              <a:rPr lang="en-US"/>
              <a:t>7/20/26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2275" y="1243013"/>
            <a:ext cx="5957888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0244" y="4781018"/>
            <a:ext cx="5441950" cy="335291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53142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FB667E1-E601-4AAF-B95C-B25720D70A6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667E1-E601-4AAF-B95C-B25720D70A60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endParaRPr lang="en-GB"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667E1-E601-4AAF-B95C-B25720D70A60}" type="slidenum">
              <a:rPr lang="en-GB"/>
              <a:t>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399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6pPr>
              <a:defRPr/>
            </a:lvl6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2536CB8-F384-41F5-9A13-5525A14F6115}" type="datetime1">
              <a:rPr lang="en-US"/>
              <a:t>7/20/26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80470E-3E49-4166-8FDE-B4B231F96343}" type="datetime1">
              <a:rPr lang="en-US"/>
              <a:t>7/20/26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Alternate 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9C6305C-FBE6-4432-984C-F014356066E0}" type="datetime1">
              <a:rPr lang="en-US"/>
              <a:t>7/20/26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F533CFF-D905-4362-8694-2B08F6E2EA39}" type="datetime1">
              <a:rPr lang="en-US"/>
              <a:t>7/20/26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ECE5F2-81AA-4605-B028-6FBA391056A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341120" y="466344"/>
            <a:ext cx="9509760" cy="123444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F26A8B8-6B3D-4779-A1CC-09767831A91A}" type="datetime1">
              <a:rPr lang="en-US"/>
              <a:t>7/20/26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E37F0F-C8F1-4757-B6DF-F80D7A79B872}" type="datetime1">
              <a:rPr lang="en-US"/>
              <a:t>7/20/26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DFD81F-BFBF-415D-8405-C0F93516B68D}" type="datetime1">
              <a:rPr lang="en-US"/>
              <a:t>7/20/26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0412" y="2362199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3BB29C7-623B-4106-BC28-43A8B3502422}" type="datetime1">
              <a:rPr lang="en-US"/>
              <a:t>7/20/26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Alternate 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0412" y="2362199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43F99CD-2C18-4A2E-8316-6DD2578C3BFD}" type="datetime1">
              <a:rPr lang="en-US"/>
              <a:t>7/20/26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923214" y="2362199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 bwMode="auto">
          <a:xfrm>
            <a:off x="0" y="0"/>
            <a:ext cx="7315200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A953EF-EC43-4647-B8AE-539F1EE3834D}" type="datetime1">
              <a:rPr lang="en-US"/>
              <a:t>7/20/26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854C4A4-9779-4099-B329-474746D321FE}" type="datetime1">
              <a:rPr lang="en-US"/>
              <a:t>7/20/26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274638"/>
            <a:ext cx="2628900" cy="5897562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274638"/>
            <a:ext cx="7734300" cy="5897562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303420-E7D0-4F09-96D8-181EC29F25F4}" type="datetime1">
              <a:rPr lang="en-US"/>
              <a:t>7/20/26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EAF1AF7-8E07-442A-8E11-2E63F8314A9C}" type="datetime1">
              <a:rPr lang="en-US"/>
              <a:t>7/20/26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marL="0" indent="0" algn="l" defTabSz="914400">
        <a:lnSpc>
          <a:spcPct val="90000"/>
        </a:lnSpc>
        <a:spcBef>
          <a:spcPts val="0"/>
        </a:spcBef>
        <a:buFont typeface="Arial"/>
        <a:buNone/>
        <a:defRPr sz="34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/>
        <a:buChar char="§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/>
        <a:buChar char="§"/>
        <a:defRPr sz="18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6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 bwMode="auto">
          <a:xfrm>
            <a:off x="474622" y="4288015"/>
            <a:ext cx="11017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>
                <a:latin typeface="Times New Roman"/>
                <a:cs typeface="Times New Roman"/>
              </a:rPr>
              <a:t>Hakjae Kim</a:t>
            </a:r>
            <a:endParaRPr lang="en-GB" sz="12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GB" sz="1200">
                <a:latin typeface="Times New Roman"/>
                <a:cs typeface="Times New Roman"/>
              </a:rPr>
              <a:t>Department of Advanced Materials Science and Engineering</a:t>
            </a:r>
          </a:p>
          <a:p>
            <a:pPr>
              <a:defRPr/>
            </a:pPr>
            <a:r>
              <a:rPr lang="en-GB" sz="1200">
                <a:latin typeface="Times New Roman"/>
                <a:cs typeface="Times New Roman"/>
              </a:rPr>
              <a:t> </a:t>
            </a:r>
            <a:endParaRPr/>
          </a:p>
          <a:p>
            <a:pPr algn="ctr">
              <a:defRPr/>
            </a:pPr>
            <a:endParaRPr lang="en-GB" sz="12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166329" y="4850548"/>
            <a:ext cx="5785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200">
                <a:latin typeface="Times New Roman"/>
                <a:cs typeface="Times New Roman"/>
              </a:rPr>
              <a:t> Sungkyunkwan University </a:t>
            </a:r>
            <a:endParaRPr/>
          </a:p>
          <a:p>
            <a:pPr algn="ctr">
              <a:defRPr/>
            </a:pPr>
            <a:r>
              <a:rPr lang="en-GB" sz="1200">
                <a:latin typeface="Times New Roman"/>
                <a:cs typeface="Times New Roman"/>
              </a:rPr>
              <a:t>2066, Seobu-ro, Jangan-gu, Suwon-si, Gyeonggi-do, Korea </a:t>
            </a:r>
            <a:endParaRPr/>
          </a:p>
          <a:p>
            <a:pPr algn="ctr">
              <a:defRPr/>
            </a:pPr>
            <a:r>
              <a:rPr lang="en-GB" sz="1200">
                <a:latin typeface="Times New Roman"/>
                <a:cs typeface="Times New Roman"/>
              </a:rPr>
              <a:t> [e-mail: </a:t>
            </a:r>
            <a:r>
              <a:rPr lang="en-GB" sz="1200" b="1">
                <a:latin typeface="Times New Roman"/>
                <a:cs typeface="Times New Roman"/>
              </a:rPr>
              <a:t>hjkim24</a:t>
            </a:r>
            <a:r>
              <a:rPr lang="en-GB" sz="1200">
                <a:latin typeface="Times New Roman"/>
                <a:cs typeface="Times New Roman"/>
              </a:rPr>
              <a:t>@skku.edu] </a:t>
            </a:r>
            <a:endParaRPr/>
          </a:p>
        </p:txBody>
      </p:sp>
      <p:sp>
        <p:nvSpPr>
          <p:cNvPr id="9" name="Title 1"/>
          <p:cNvSpPr txBox="1"/>
          <p:nvPr/>
        </p:nvSpPr>
        <p:spPr bwMode="auto">
          <a:xfrm>
            <a:off x="551384" y="2924944"/>
            <a:ext cx="11233248" cy="740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0"/>
              </a:spcBef>
              <a:buFont typeface="Arial"/>
              <a:buNone/>
              <a:defRPr sz="34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200">
                <a:latin typeface="Times New Roman"/>
                <a:cs typeface="Times New Roman"/>
              </a:rPr>
              <a:t>Weekly meeting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0" y="18141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>
                <a:latin typeface="Arial Narrow"/>
              </a:rPr>
              <a:t>RESEARCH PROGRESS</a:t>
            </a:r>
            <a:endParaRPr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 lang="en-US"/>
              <a:t>1</a:t>
            </a:fld>
            <a:endParaRPr lang="en-US"/>
          </a:p>
        </p:txBody>
      </p:sp>
      <p:pic>
        <p:nvPicPr>
          <p:cNvPr id="5" name="그림 4" descr="텍스트, 폰트, 그래픽, 로고이(가) 표시된 사진&#10;&#10;자동 생성된 설명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711" y="-3232"/>
            <a:ext cx="2607905" cy="895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Sections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>
          <a:xfrm>
            <a:off x="1341120" y="1901952"/>
            <a:ext cx="10155480" cy="411933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sz="2400">
                <a:solidFill>
                  <a:srgbClr val="404040"/>
                </a:solidFill>
                <a:latin typeface="Roboto"/>
              </a:rPr>
              <a:t>1. </a:t>
            </a:r>
            <a:r>
              <a:rPr sz="2400" dirty="0">
                <a:solidFill>
                  <a:srgbClr val="404040"/>
                </a:solidFill>
                <a:latin typeface="Roboto"/>
              </a:rPr>
              <a:t>Summary of last meeting/progress</a:t>
            </a:r>
            <a:endParaRPr dirty="0"/>
          </a:p>
          <a:p>
            <a:pPr marL="0" indent="0">
              <a:buNone/>
            </a:pPr>
            <a:r>
              <a:rPr sz="2400" dirty="0">
                <a:solidFill>
                  <a:srgbClr val="404040"/>
                </a:solidFill>
                <a:latin typeface="Roboto"/>
              </a:rPr>
              <a:t>2. Progress last week</a:t>
            </a:r>
          </a:p>
          <a:p>
            <a:pPr marL="0" indent="0">
              <a:buNone/>
            </a:pPr>
            <a:r>
              <a:rPr sz="2400" dirty="0">
                <a:solidFill>
                  <a:srgbClr val="404040"/>
                </a:solidFill>
                <a:latin typeface="Roboto"/>
              </a:rPr>
              <a:t>3. Plan for next 1 week</a:t>
            </a:r>
          </a:p>
          <a:p>
            <a:pPr marL="0" indent="0">
              <a:buNone/>
            </a:pPr>
            <a:r>
              <a:rPr sz="2400" dirty="0">
                <a:solidFill>
                  <a:srgbClr val="404040"/>
                </a:solidFill>
                <a:latin typeface="Roboto"/>
              </a:rPr>
              <a:t>4. Reference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 lang="en-US"/>
              <a:t>2</a:t>
            </a:fld>
            <a:endParaRPr lang="en-US"/>
          </a:p>
        </p:txBody>
      </p:sp>
      <p:pic>
        <p:nvPicPr>
          <p:cNvPr id="8" name="그림 7" descr="텍스트, 폰트, 그래픽, 로고이(가) 표시된 사진&#10;&#10;자동 생성된 설명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711" y="-3232"/>
            <a:ext cx="2607905" cy="895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1. Summary of last meeting/progress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100584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Roboto"/>
              </a:rPr>
              <a:t>지난 미팅 피드백과 이번 주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" y="1600200"/>
          <a:ext cx="110185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oboto"/>
                        </a:rPr>
                        <a:t>피드백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oboto"/>
                        </a:rPr>
                        <a:t>이번 주 대응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요지 한 줄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무엇을 바꿨는지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요지 한 줄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무엇을 바꿨는지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요지 한 줄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무엇을 바꿨는지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2. Progress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70C0"/>
                </a:solidFill>
                <a:latin typeface="Roboto"/>
              </a:rPr>
              <a:t>1. RADP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00584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Roboto"/>
              </a:rPr>
              <a:t>a. 소제목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6002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Roboto"/>
              </a:rPr>
              <a:t>• 라벨 한 줄</a:t>
            </a:r>
          </a:p>
          <a:p>
            <a:pPr algn="l"/>
            <a:r>
              <a:rPr sz="1600" b="0">
                <a:solidFill>
                  <a:srgbClr val="404040"/>
                </a:solidFill>
                <a:latin typeface="Roboto"/>
              </a:rPr>
              <a:t>• 라벨 한 줄</a:t>
            </a:r>
          </a:p>
          <a:p>
            <a:pPr algn="l"/>
            <a:r>
              <a:rPr sz="1600" b="0">
                <a:solidFill>
                  <a:srgbClr val="404040"/>
                </a:solidFill>
                <a:latin typeface="Roboto"/>
              </a:rPr>
              <a:t>• 숫자 한 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589788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Roboto"/>
              </a:rPr>
              <a:t>캡션: 환경 / 조건 / 유효 샘플 수</a:t>
            </a:r>
          </a:p>
        </p:txBody>
      </p:sp>
      <p:pic>
        <p:nvPicPr>
          <p:cNvPr id="8" name="Picture 7" descr="fig_recovery_ttr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00200"/>
            <a:ext cx="5870448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2. Progress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70C0"/>
                </a:solidFill>
                <a:latin typeface="Roboto"/>
              </a:rPr>
              <a:t>1. RADP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00584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Roboto"/>
              </a:rPr>
              <a:t>b. 좌우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6002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0C0"/>
                </a:solidFill>
                <a:latin typeface="Roboto"/>
              </a:rPr>
              <a:t>[ 좌측 시각물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0C0"/>
                </a:solidFill>
                <a:latin typeface="Roboto"/>
              </a:rPr>
              <a:t>[ 우측 시각물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5806440"/>
            <a:ext cx="11018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Roboto"/>
              </a:rPr>
              <a:t>• 두 그림에서 읽어야 할 것 한 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2. Progress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70C0"/>
                </a:solidFill>
                <a:latin typeface="Roboto"/>
              </a:rPr>
              <a:t>2.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00584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Roboto"/>
              </a:rPr>
              <a:t>c. 수치 보고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72" y="1600200"/>
          <a:ext cx="110185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oboto"/>
                        </a:rPr>
                        <a:t>구분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oboto"/>
                        </a:rPr>
                        <a:t>하는 일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oboto"/>
                        </a:rPr>
                        <a:t>비용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0404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" y="4251960"/>
            <a:ext cx="11018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Roboto"/>
              </a:rPr>
              <a:t>• 표에서 읽어야 할 것 한 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3. Plan for next 1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100584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  <a:latin typeface="Roboto"/>
              </a:rPr>
              <a:t>다음 1주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600200"/>
            <a:ext cx="11018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  <a:latin typeface="Roboto"/>
              </a:rPr>
              <a:t>• 할 일 (명사 종결)</a:t>
            </a:r>
          </a:p>
          <a:p>
            <a:pPr algn="l"/>
            <a:r>
              <a:rPr sz="2000" b="0">
                <a:solidFill>
                  <a:srgbClr val="404040"/>
                </a:solidFill>
                <a:latin typeface="Roboto"/>
              </a:rPr>
              <a:t>• 할 일 (명사 종결)</a:t>
            </a:r>
          </a:p>
          <a:p>
            <a:pPr algn="l"/>
            <a:r>
              <a:rPr sz="2000" b="0">
                <a:solidFill>
                  <a:srgbClr val="404040"/>
                </a:solidFill>
                <a:latin typeface="Roboto"/>
              </a:rPr>
              <a:t>• 할 일 (명사 종결)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4.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097280"/>
            <a:ext cx="11018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Roboto"/>
              </a:rPr>
              <a:t>[1] Author, "Title," Venue,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02843"/>
          </a:solidFill>
          <a:ln>
            <a:noFill/>
          </a:ln>
        </p:spPr>
        <p:txBody>
          <a:bodyPr wrap="none" lIns="164592" tIns="18288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Roboto"/>
              </a:rPr>
              <a:t>그림 규격 (참고용 — 발표 전 이 장은 삭제)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85800"/>
            <a:ext cx="11018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0070C0"/>
                </a:solidFill>
                <a:latin typeface="Roboto"/>
              </a:rPr>
              <a:t>그림은 PowerPoint 에서 만들지 않는다. paper/figures/_slide.py 로 뽑아서 배율 100% 로 얹는다.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" y="1234440"/>
          <a:ext cx="6400800" cy="3291840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737360"/>
                <a:gridCol w="1554480"/>
                <a:gridCol w="3108960"/>
              </a:tblGrid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항목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값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이유</a:t>
                      </a:r>
                    </a:p>
                  </a:txBody>
                  <a:tcPr>
                    <a:solidFill>
                      <a:srgbClr val="20284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figsize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슬라이드에 놓일 크기 그대로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확대하면 글자만 커진다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축 라벨 / 눈금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14pt / 12pt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논문용 8pt 는 안 보인다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범례 / 주석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12pt / 13pt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축 안에 넣어 여백을 아낀다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선 두께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2.0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프로젝터에서 얇은 선은 사라진다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dpi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300, png + pdf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pdf 는 논문에 재사용</a:t>
                      </a:r>
                    </a:p>
                  </a:txBody>
                  <a:tcPr>
                    <a:solidFill>
                      <a:srgbClr val="E8EAF0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배치 배율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100% 고정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  <a:latin typeface="Roboto"/>
                        </a:rPr>
                        <a:t>늘리는 순간 덱과 글자 크기가 어긋난다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234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FF0000"/>
                </a:solidFill>
                <a:latin typeface="Roboto"/>
              </a:rPr>
              <a:t>그림 안에 넣지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400" b="0">
                <a:solidFill>
                  <a:srgbClr val="404040"/>
                </a:solidFill>
                <a:latin typeface="Roboto"/>
              </a:rPr>
              <a:t>제목 — 슬라이드 제목이 그 역할을 한다</a:t>
            </a:r>
          </a:p>
          <a:p>
            <a:pPr algn="l" marL="0" indent="0">
              <a:buNone/>
            </a:pPr>
            <a:r>
              <a:rPr sz="1400" b="0">
                <a:solidFill>
                  <a:srgbClr val="404040"/>
                </a:solidFill>
                <a:latin typeface="Roboto"/>
              </a:rPr>
              <a:t>축 밖 범례 — 여백을 먹는다</a:t>
            </a:r>
          </a:p>
          <a:p>
            <a:pPr algn="l" marL="0" indent="0">
              <a:buNone/>
            </a:pPr>
            <a:r>
              <a:rPr sz="1400" b="0">
                <a:solidFill>
                  <a:srgbClr val="404040"/>
                </a:solidFill>
                <a:latin typeface="Roboto"/>
              </a:rPr>
              <a:t>진한 격자 — alpha 0.3 이하로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154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0070C0"/>
                </a:solidFill>
                <a:latin typeface="Roboto"/>
              </a:rPr>
              <a:t>색은 §4 고정 배정을 따른다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520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FF0000"/>
                </a:solidFill>
                <a:latin typeface="Roboto"/>
              </a:rPr>
              <a:t>full-replay  FF0000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8313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202843"/>
                </a:solidFill>
                <a:latin typeface="Roboto"/>
              </a:rPr>
              <a:t>surgical     202843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1422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400" b="1">
                <a:solidFill>
                  <a:srgbClr val="0070C0"/>
                </a:solidFill>
                <a:latin typeface="Roboto"/>
              </a:rPr>
              <a:t>parity       0070C0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0916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600" b="1">
                <a:solidFill>
                  <a:srgbClr val="404040"/>
                </a:solidFill>
                <a:latin typeface="Roboto"/>
              </a:rPr>
              <a:t>캡션: 그림 바로 아래 12pt 한 줄로 환경 / 조건 / 유효 샘플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074920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1200" b="0">
                <a:solidFill>
                  <a:srgbClr val="404040"/>
                </a:solidFill>
                <a:latin typeface="Roboto"/>
              </a:rPr>
              <a:t>OPT-350M 24층 / 5-stage 이종 체인 / 15개 트라이얼 전부 유효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Custom 3">
      <a:majorFont>
        <a:latin typeface="Roboto"/>
        <a:ea typeface="Arial"/>
        <a:cs typeface="Arial"/>
      </a:majorFont>
      <a:minorFont>
        <a:latin typeface="Robot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Roboto"/>
        <a:ea typeface="Arial"/>
        <a:cs typeface="Arial"/>
      </a:majorFont>
      <a:minorFont>
        <a:latin typeface="Robot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rgbClr val="00000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231</Words>
  <Application>Microsoft Macintosh PowerPoint</Application>
  <PresentationFormat>와이드스크린</PresentationFormat>
  <Paragraphs>65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</vt:lpstr>
      <vt:lpstr>Arial Narrow</vt:lpstr>
      <vt:lpstr>Euphemia</vt:lpstr>
      <vt:lpstr>Roboto</vt:lpstr>
      <vt:lpstr>Times New Roman</vt:lpstr>
      <vt:lpstr>Wingdings</vt:lpstr>
      <vt:lpstr>Banded Design Blue 16x9</vt:lpstr>
      <vt:lpstr>PowerPoint 프레젠테이션</vt:lpstr>
      <vt:lpstr>Sections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Eugenio Morocho</dc:creator>
  <cp:lastModifiedBy>김학재</cp:lastModifiedBy>
  <cp:revision>2162</cp:revision>
  <dcterms:created xsi:type="dcterms:W3CDTF">2017-06-13T09:39:50Z</dcterms:created>
  <dcterms:modified xsi:type="dcterms:W3CDTF">2026-07-20T06:29:21Z</dcterms:modified>
</cp:coreProperties>
</file>