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02438" cy="9934575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pos="6816">
          <p15:clr>
            <a:srgbClr val="A4A3A4"/>
          </p15:clr>
        </p15:guide>
        <p15:guide id="3" pos="816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No Style, Table Grid">
    <a:wholeTbl>
      <a:tcTxStyle>
        <a:fontRef idx="minor">
          <a:srgbClr val="000000"/>
        </a:fontRef>
        <a:schemeClr val="tx1"/>
      </a:tcTxStyle>
      <a:tcStyle>
        <a:tcBdr>
          <a:left>
            <a:ln w="12700">
              <a:solidFill>
                <a:schemeClr val="tx1"/>
              </a:solidFill>
            </a:ln>
          </a:left>
          <a:right>
            <a:ln w="12700">
              <a:solidFill>
                <a:schemeClr val="tx1"/>
              </a:solidFill>
            </a:ln>
          </a:right>
          <a:top>
            <a:ln w="12700">
              <a:solidFill>
                <a:schemeClr val="tx1"/>
              </a:solidFill>
            </a:ln>
          </a:top>
          <a:bottom>
            <a:ln w="12700">
              <a:solidFill>
                <a:schemeClr val="tx1"/>
              </a:solidFill>
            </a:ln>
          </a:bottom>
          <a:insideH>
            <a:ln w="12700">
              <a:solidFill>
                <a:schemeClr val="tx1"/>
              </a:solidFill>
            </a:ln>
          </a:insideH>
          <a:insideV>
            <a:ln w="12700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>
      <p:cViewPr varScale="1">
        <p:scale>
          <a:sx n="120" d="100"/>
          <a:sy n="120" d="100"/>
        </p:scale>
        <p:origin x="800" y="184"/>
      </p:cViewPr>
      <p:guideLst>
        <p:guide pos="3840"/>
        <p:guide pos="6816"/>
        <p:guide pos="816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1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53142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A8CDE508-72C8-4AB5-AA9C-1584D31690E0}" type="datetimeFigureOut">
              <a:rPr lang="en-US"/>
              <a:t>7/20/26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422275" y="1243013"/>
            <a:ext cx="5957888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0244" y="4781018"/>
            <a:ext cx="5441950" cy="335291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1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53142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7FB667E1-E601-4AAF-B95C-B25720D70A60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1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endParaRPr lang="en-GB" sz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2</a:t>
            </a:fld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" name="Picture 8" descr="Sun rising over grassy hills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651" y="0"/>
            <a:ext cx="12188699" cy="47993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 bwMode="ltGray">
          <a:xfrm>
            <a:off x="-2" y="4754880"/>
            <a:ext cx="12192002" cy="21031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 bwMode="white">
          <a:xfrm>
            <a:off x="-127" y="4724399"/>
            <a:ext cx="12188826" cy="762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1523999" y="4800600"/>
            <a:ext cx="9144002" cy="11430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2413" y="5943600"/>
            <a:ext cx="9144002" cy="7620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 cap="none">
                <a:solidFill>
                  <a:schemeClr val="bg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6pPr>
              <a:defRPr/>
            </a:lvl6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2536CB8-F384-41F5-9A13-5525A14F6115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0" y="0"/>
            <a:ext cx="12188826" cy="4572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-1" y="4114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4000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80470E-3E49-4166-8FDE-B4B231F96343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secHead" preserve="1" userDrawn="1">
  <p:cSld name="Alternate 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2413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9C6305C-FBE6-4432-984C-F014356066E0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34112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27888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F533CFF-D905-4362-8694-2B08F6E2EA39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0ECE5F2-81AA-4605-B028-6FBA391056A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341120" y="466344"/>
            <a:ext cx="9509760" cy="1234440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34112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27888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27888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F26A8B8-6B3D-4779-A1CC-09767831A91A}" type="datetime1">
              <a:rPr lang="en-US"/>
              <a:t>7/20/26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EE37F0F-C8F1-4757-B6DF-F80D7A79B872}" type="datetime1">
              <a:rPr lang="en-US"/>
              <a:t>7/20/26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02DFD81F-BFBF-415D-8405-C0F93516B68D}" type="datetime1">
              <a:rPr lang="en-US"/>
              <a:t>7/20/26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4494212" y="685800"/>
            <a:ext cx="7239001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3BB29C7-623B-4106-BC28-43A8B3502422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objTx" preserve="1" userDrawn="1">
  <p:cSld name="Alternate 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5362892" y="685800"/>
            <a:ext cx="6370320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B43F99CD-2C18-4A2E-8316-6DD2578C3BFD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731520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923214" y="2362199"/>
            <a:ext cx="3200400" cy="1993392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 bwMode="auto">
          <a:xfrm>
            <a:off x="0" y="0"/>
            <a:ext cx="7315200" cy="6858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/>
          <a:lstStyle>
            <a:lvl1pPr marL="0" indent="0" algn="ctr">
              <a:buNone/>
              <a:defRPr sz="3200">
                <a:solidFill>
                  <a:schemeClr val="tx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Drag picture to placeholder or click icon to add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23214" y="4355592"/>
            <a:ext cx="3200400" cy="1644614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A953EF-EC43-4647-B8AE-539F1EE3834D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854C4A4-9779-4099-B329-474746D321FE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274638"/>
            <a:ext cx="2628900" cy="5897562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274638"/>
            <a:ext cx="7734300" cy="5897562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F303420-E7D0-4F09-96D8-181EC29F25F4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1587" y="6583680"/>
            <a:ext cx="12188826" cy="2743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1587" y="65836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341120" y="467360"/>
            <a:ext cx="9509760" cy="12334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901952"/>
            <a:ext cx="9509760" cy="41276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1341120" y="6601968"/>
            <a:ext cx="7159752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875776" y="6601968"/>
            <a:ext cx="96012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5EAF1AF7-8E07-442A-8E11-2E63F8314A9C}" type="datetime1">
              <a:rPr lang="en-US"/>
              <a:t>7/20/26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0210800" y="6601968"/>
            <a:ext cx="64008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dt="0"/>
  <p:txStyles>
    <p:titleStyle>
      <a:lvl1pPr marL="0" indent="0" algn="l" defTabSz="914400">
        <a:lnSpc>
          <a:spcPct val="90000"/>
        </a:lnSpc>
        <a:spcBef>
          <a:spcPts val="0"/>
        </a:spcBef>
        <a:buFont typeface="Arial"/>
        <a:buNone/>
        <a:defRPr sz="3400">
          <a:solidFill>
            <a:schemeClr val="tx2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>
        <a:lnSpc>
          <a:spcPct val="90000"/>
        </a:lnSpc>
        <a:spcBef>
          <a:spcPts val="1800"/>
        </a:spcBef>
        <a:buClr>
          <a:schemeClr val="tx2"/>
        </a:buClr>
        <a:buSzPct val="80000"/>
        <a:buFont typeface="Wingdings"/>
        <a:buChar char="§"/>
        <a:defRPr sz="2000">
          <a:solidFill>
            <a:schemeClr val="tx2"/>
          </a:solidFill>
          <a:latin typeface="+mn-lt"/>
          <a:ea typeface="+mn-ea"/>
          <a:cs typeface="+mn-cs"/>
        </a:defRPr>
      </a:lvl1pPr>
      <a:lvl2pPr marL="594360" indent="-228600" algn="l" defTabSz="914400">
        <a:lnSpc>
          <a:spcPct val="90000"/>
        </a:lnSpc>
        <a:spcBef>
          <a:spcPts val="1000"/>
        </a:spcBef>
        <a:buClr>
          <a:schemeClr val="tx2"/>
        </a:buClr>
        <a:buSzPct val="80000"/>
        <a:buFont typeface="Wingdings"/>
        <a:buChar char="§"/>
        <a:defRPr sz="18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600">
          <a:solidFill>
            <a:schemeClr val="tx2"/>
          </a:solidFill>
          <a:latin typeface="+mn-lt"/>
          <a:ea typeface="+mn-ea"/>
          <a:cs typeface="+mn-cs"/>
        </a:defRPr>
      </a:lvl3pPr>
      <a:lvl4pPr marL="123444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4pPr>
      <a:lvl5pPr marL="155448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5pPr>
      <a:lvl6pPr marL="187452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6pPr>
      <a:lvl7pPr marL="219456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7pPr>
      <a:lvl8pPr marL="251460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8pPr>
      <a:lvl9pPr marL="283464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 bwMode="auto">
          <a:xfrm>
            <a:off x="474622" y="4288015"/>
            <a:ext cx="11017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1200" b="1">
                <a:latin typeface="Times New Roman"/>
                <a:cs typeface="Times New Roman"/>
              </a:rPr>
              <a:t>Hakjae Kim</a:t>
            </a:r>
            <a:endParaRPr lang="en-GB"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Department of Advanced Materials Science and Engineering</a:t>
            </a:r>
          </a:p>
          <a:p>
            <a:pPr>
              <a:defRPr/>
            </a:pPr>
            <a:r>
              <a:rPr lang="en-GB" sz="1200">
                <a:latin typeface="Times New Roman"/>
                <a:cs typeface="Times New Roman"/>
              </a:rPr>
              <a:t> </a:t>
            </a:r>
            <a:endParaRPr/>
          </a:p>
          <a:p>
            <a:pPr algn="ctr">
              <a:defRPr/>
            </a:pPr>
            <a:endParaRPr lang="en-GB" sz="1200">
              <a:latin typeface="Times New Roman"/>
              <a:cs typeface="Times New Roman"/>
            </a:endParaRPr>
          </a:p>
        </p:txBody>
      </p:sp>
      <p:sp>
        <p:nvSpPr>
          <p:cNvPr id="15" name="TextBox 14"/>
          <p:cNvSpPr txBox="1"/>
          <p:nvPr/>
        </p:nvSpPr>
        <p:spPr bwMode="auto">
          <a:xfrm>
            <a:off x="3166329" y="4850548"/>
            <a:ext cx="5785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 Sungkyunkwan University </a:t>
            </a:r>
            <a:endParaRPr/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2066, Seobu-ro, Jangan-gu, Suwon-si, Gyeonggi-do, Korea </a:t>
            </a:r>
            <a:endParaRPr/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 [e-mail: </a:t>
            </a:r>
            <a:r>
              <a:rPr lang="en-GB" sz="1200" b="1">
                <a:latin typeface="Times New Roman"/>
                <a:cs typeface="Times New Roman"/>
              </a:rPr>
              <a:t>hjkim24</a:t>
            </a:r>
            <a:r>
              <a:rPr lang="en-GB" sz="1200">
                <a:latin typeface="Times New Roman"/>
                <a:cs typeface="Times New Roman"/>
              </a:rPr>
              <a:t>@skku.edu] </a:t>
            </a:r>
            <a:endParaRPr/>
          </a:p>
        </p:txBody>
      </p:sp>
      <p:sp>
        <p:nvSpPr>
          <p:cNvPr id="9" name="Title 1"/>
          <p:cNvSpPr txBox="1"/>
          <p:nvPr/>
        </p:nvSpPr>
        <p:spPr bwMode="auto">
          <a:xfrm>
            <a:off x="551384" y="2924944"/>
            <a:ext cx="11233248" cy="7408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0"/>
              </a:spcBef>
              <a:buFont typeface="Arial"/>
              <a:buNone/>
              <a:defRPr sz="3400">
                <a:solidFill>
                  <a:schemeClr val="tx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200">
                <a:latin typeface="Times New Roman"/>
                <a:cs typeface="Times New Roman"/>
              </a:rPr>
              <a:t>Weekly meeting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11" name="TextBox 10"/>
          <p:cNvSpPr txBox="1"/>
          <p:nvPr/>
        </p:nvSpPr>
        <p:spPr bwMode="auto">
          <a:xfrm>
            <a:off x="0" y="1814134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>
                <a:latin typeface="Arial Narrow"/>
              </a:rPr>
              <a:t>RESEARCH PROGRESS</a:t>
            </a:r>
            <a:endParaRPr/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1</a:t>
            </a:fld>
            <a:endParaRPr lang="en-US"/>
          </a:p>
        </p:txBody>
      </p:sp>
      <p:pic>
        <p:nvPicPr>
          <p:cNvPr id="5" name="그림 4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Sections</a:t>
            </a:r>
            <a:endParaRPr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 bwMode="auto">
          <a:xfrm>
            <a:off x="1341120" y="1901952"/>
            <a:ext cx="10155480" cy="411933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sz="2400">
                <a:solidFill>
                  <a:srgbClr val="404040"/>
                </a:solidFill>
                <a:latin typeface="Roboto"/>
              </a:rPr>
              <a:t>1. </a:t>
            </a:r>
            <a:r>
              <a:rPr sz="2400" dirty="0">
                <a:solidFill>
                  <a:srgbClr val="404040"/>
                </a:solidFill>
                <a:latin typeface="Roboto"/>
              </a:rPr>
              <a:t>Summary of last meeting/progress</a:t>
            </a:r>
            <a:endParaRPr dirty="0"/>
          </a:p>
          <a:p>
            <a:pPr marL="0" indent="0">
              <a:buNone/>
            </a:pPr>
            <a:r>
              <a:rPr sz="2400" dirty="0">
                <a:solidFill>
                  <a:srgbClr val="404040"/>
                </a:solidFill>
                <a:latin typeface="Roboto"/>
              </a:rPr>
              <a:t>2. Progress last week</a:t>
            </a:r>
          </a:p>
          <a:p>
            <a:pPr marL="0" indent="0">
              <a:buNone/>
            </a:pPr>
            <a:r>
              <a:rPr sz="2400" dirty="0">
                <a:solidFill>
                  <a:srgbClr val="404040"/>
                </a:solidFill>
                <a:latin typeface="Roboto"/>
              </a:rPr>
              <a:t>3. Plan for next 1 week</a:t>
            </a:r>
          </a:p>
          <a:p>
            <a:pPr marL="0" indent="0">
              <a:buNone/>
            </a:pPr>
            <a:r>
              <a:rPr sz="2400" dirty="0">
                <a:solidFill>
                  <a:srgbClr val="404040"/>
                </a:solidFill>
                <a:latin typeface="Roboto"/>
              </a:rPr>
              <a:t>4. Reference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2</a:t>
            </a:fld>
            <a:endParaRPr lang="en-US"/>
          </a:p>
        </p:txBody>
      </p:sp>
      <p:pic>
        <p:nvPicPr>
          <p:cNvPr id="8" name="그림 7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1. Summary of last meeting/progress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지난 미팅 피드백과 이번 주 대응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6072" y="1600200"/>
          <a:ext cx="1101852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피드백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이번 주 대응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a. 소제목 한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숫자 한 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600200"/>
            <a:ext cx="676656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시각물 영역 ]</a:t>
            </a:r>
          </a:p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7.4 × 4.45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589788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Roboto"/>
              </a:rPr>
              <a:t>캡션: 환경 / 조건 / 유효 샘플 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b. 좌우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좌측 시각물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우측 시각물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580644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두 그림에서 읽어야 할 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2.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c. 수치 보고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72" y="1600200"/>
          <a:ext cx="110185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72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2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2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구분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하는 일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비용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6072" y="425196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표에서 읽어야 할 결론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3. Plan for next 1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다음 1주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600200"/>
            <a:ext cx="11018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4.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1097280"/>
            <a:ext cx="11018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Roboto"/>
              </a:rPr>
              <a:t>[1] Author, "Title," Venue, Year.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ded Design Blue 16x9">
  <a:themeElements>
    <a:clrScheme name="Banded_Design_Blue">
      <a:dk1>
        <a:srgbClr val="404040"/>
      </a:dk1>
      <a:lt1>
        <a:sysClr val="window" lastClr="FFFFFF"/>
      </a:lt1>
      <a:dk2>
        <a:srgbClr val="263050"/>
      </a:dk2>
      <a:lt2>
        <a:srgbClr val="E5E8E8"/>
      </a:lt2>
      <a:accent1>
        <a:srgbClr val="77B142"/>
      </a:accent1>
      <a:accent2>
        <a:srgbClr val="E3C01E"/>
      </a:accent2>
      <a:accent3>
        <a:srgbClr val="0070C0"/>
      </a:accent3>
      <a:accent4>
        <a:srgbClr val="7556A4"/>
      </a:accent4>
      <a:accent5>
        <a:srgbClr val="F08F1E"/>
      </a:accent5>
      <a:accent6>
        <a:srgbClr val="CB3E3A"/>
      </a:accent6>
      <a:hlink>
        <a:srgbClr val="0070C0"/>
      </a:hlink>
      <a:folHlink>
        <a:srgbClr val="7556A4"/>
      </a:folHlink>
    </a:clrScheme>
    <a:fontScheme name="Custom 3">
      <a:majorFont>
        <a:latin typeface="Roboto"/>
        <a:ea typeface="Arial"/>
        <a:cs typeface="Arial"/>
      </a:majorFont>
      <a:minorFont>
        <a:latin typeface="Roboto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lumMod val="0"/>
                <a:lumOff val="100000"/>
              </a:schemeClr>
            </a:gs>
            <a:gs pos="72000">
              <a:schemeClr val="phClr"/>
            </a:gs>
            <a:gs pos="100000">
              <a:schemeClr val="phClr">
                <a:lumMod val="90000"/>
              </a:schemeClr>
            </a:gs>
          </a:gsLst>
          <a:lin ang="5400000" scaled="1"/>
        </a:gradFill>
        <a:gradFill>
          <a:gsLst>
            <a:gs pos="32000">
              <a:schemeClr val="phClr"/>
            </a:gs>
            <a:gs pos="100000">
              <a:schemeClr val="phClr">
                <a:lumMod val="75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Banded_Design_Teal">
      <a:dk1>
        <a:srgbClr val="363D3D"/>
      </a:dk1>
      <a:lt1>
        <a:sysClr val="window" lastClr="FFFFFF"/>
      </a:lt1>
      <a:dk2>
        <a:srgbClr val="000000"/>
      </a:dk2>
      <a:lt2>
        <a:srgbClr val="E5E8E8"/>
      </a:lt2>
      <a:accent1>
        <a:srgbClr val="3AAFB2"/>
      </a:accent1>
      <a:accent2>
        <a:srgbClr val="6ABD45"/>
      </a:accent2>
      <a:accent3>
        <a:srgbClr val="EBCA21"/>
      </a:accent3>
      <a:accent4>
        <a:srgbClr val="EB8D21"/>
      </a:accent4>
      <a:accent5>
        <a:srgbClr val="EB5638"/>
      </a:accent5>
      <a:accent6>
        <a:srgbClr val="5172B1"/>
      </a:accent6>
      <a:hlink>
        <a:srgbClr val="3A9CDB"/>
      </a:hlink>
      <a:folHlink>
        <a:srgbClr val="5172B1"/>
      </a:folHlink>
    </a:clrScheme>
    <a:fontScheme name="Module">
      <a:majorFont>
        <a:latin typeface="Roboto"/>
        <a:ea typeface="Arial"/>
        <a:cs typeface="Arial"/>
      </a:majorFont>
      <a:minorFont>
        <a:latin typeface="Roboto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rgbClr val="00000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231</Words>
  <Application>Microsoft Macintosh PowerPoint</Application>
  <PresentationFormat>와이드스크린</PresentationFormat>
  <Paragraphs>65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Arial</vt:lpstr>
      <vt:lpstr>Arial Narrow</vt:lpstr>
      <vt:lpstr>Euphemia</vt:lpstr>
      <vt:lpstr>Roboto</vt:lpstr>
      <vt:lpstr>Times New Roman</vt:lpstr>
      <vt:lpstr>Wingdings</vt:lpstr>
      <vt:lpstr>Banded Design Blue 16x9</vt:lpstr>
      <vt:lpstr>PowerPoint 프레젠테이션</vt:lpstr>
      <vt:lpstr>Sections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Project Plan</dc:title>
  <dc:creator>Eugenio Morocho</dc:creator>
  <cp:lastModifiedBy>김학재</cp:lastModifiedBy>
  <cp:revision>2162</cp:revision>
  <dcterms:created xsi:type="dcterms:W3CDTF">2017-06-13T09:39:50Z</dcterms:created>
  <dcterms:modified xsi:type="dcterms:W3CDTF">2026-07-20T06:29:21Z</dcterms:modified>
</cp:coreProperties>
</file>